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de software para gestionar las transacciones comerciales de una tienda genérica.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requerimiento es un sistema genérico, no atado a un tipo de negocio concreto.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siete módulos exigidos por la especificación funcional están completos.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separación permite desplegar y escalar cada aplicación de forma autónoma; es la misma estructura que se replica en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respetaron las versiones exigidas por el documento, incluida la versión exacta de 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esquema que genera Hibernate en MySQL fue comparado columna por columna con el modelo del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 sprint cubrió el ingreso al sistema y la gestión de usuarios; el segundo, clientes y proveedores.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archivo tiene errores no se modifica ningún dato y se informa la línea exacta de cada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de venta es un consecutivo generado por el sistema. Si algo falla, no queda una venta a medias.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reporte de ventas incluye a los clientes sin ventas, con valor cero, y totaliza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51 pruebas superan los 43 casos porque algunos contemplan varias situaciones y se añadieron reglas funcionales adicionales.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integración continua se ejecuta en GitHub Actions y publica el JAR, el WAR y el informe de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repositorio incluye guiones de arranque, definición de contenedores y la guía paso a paso del despliegue en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sustentación: alcance completo, verificado y publicado.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00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TIENDA GENÉRICA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49808" y="32004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transacciones comerciales de una tienda de propósito general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Jaramillo Malavera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42793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 — Desarrollo de Software  ·  Sistemas Distribuidos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problema resuelve el software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negocios que compran productos a sus proveedores y los venden a sus clientes, generando una factura de venta. El software debe servir a cualquiera de ellos, sin importar el ramo.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23560" y="1371600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79008" y="153619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7900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99632" y="1463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99632" y="1700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Suministran los productos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3560" y="2157984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79008" y="232257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900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9632" y="22494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99632" y="24871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cargan masivamente por archivo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2944368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79008" y="310896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9632" y="30358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99632" y="32735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registran con IVA y consecutivo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3730752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79008" y="389534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3822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99632" y="40599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Reciben la factura de venta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788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implementó de forma que pueda operar en cualquier tipo de comercio que trabaje bajo esta modalidad.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entregado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módulos, veintitrés historias de usuario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874520" cy="1298448"/>
          </a:xfrm>
          <a:prstGeom prst="roundRect">
            <a:avLst>
              <a:gd name="adj" fmla="val 422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6420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2768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validado contra la base de datos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1481328"/>
            <a:ext cx="1874520" cy="1298448"/>
          </a:xfrm>
          <a:prstGeom prst="roundRect">
            <a:avLst>
              <a:gd name="adj" fmla="val 422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98064" y="166420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98064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98064" y="22768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quienes operan el sistema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18304" y="1481328"/>
            <a:ext cx="1874520" cy="1298448"/>
          </a:xfrm>
          <a:prstGeom prst="roundRect">
            <a:avLst>
              <a:gd name="adj" fmla="val 422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82896" y="166420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82896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82896" y="22768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los compradores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1481328"/>
            <a:ext cx="1874520" cy="1298448"/>
          </a:xfrm>
          <a:prstGeom prst="roundRect">
            <a:avLst>
              <a:gd name="adj" fmla="val 422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7728" y="166420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22768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quienes suministran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2962656"/>
            <a:ext cx="1874520" cy="1298448"/>
          </a:xfrm>
          <a:prstGeom prst="roundRect">
            <a:avLst>
              <a:gd name="adj" fmla="val 422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35295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37581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desde archivo CSV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33472" y="2962656"/>
            <a:ext cx="1874520" cy="1298448"/>
          </a:xfrm>
          <a:prstGeom prst="roundRect">
            <a:avLst>
              <a:gd name="adj" fmla="val 422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98064" y="314553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98064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98064" y="35295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98064" y="37581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IVA y consecutivo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18304" y="2962656"/>
            <a:ext cx="1874520" cy="1298448"/>
          </a:xfrm>
          <a:prstGeom prst="roundRect">
            <a:avLst>
              <a:gd name="adj" fmla="val 422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82896" y="3145536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82896" y="35295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82896" y="37581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por pantalla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03136" y="2962656"/>
            <a:ext cx="1874520" cy="1298448"/>
          </a:xfrm>
          <a:prstGeom prst="roundRect">
            <a:avLst>
              <a:gd name="adj" fmla="val 422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67728" y="31638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completo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967728" y="345643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Implementado, probado y documentado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distribuida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aplicaciones independientes que se despliegan por separado</a:t>
            </a:r>
            <a:endParaRPr lang="en-US" sz="1300" dirty="0"/>
          </a:p>
        </p:txBody>
      </p:sp>
      <p:pic>
        <p:nvPicPr>
          <p:cNvPr id="4" name="Image 0" descr="C:\Users\user\OneDrive\Documentos\Universidad\Nueva carpeta\docs\diagramas\01-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1298448"/>
            <a:ext cx="4352544" cy="2807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159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 Tomcat 9  ·  Backend en Spring Boot  ·  Base de datos MySQL 8.0.24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versiones definidas en la especificación técnica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840480" cy="786384"/>
          </a:xfrm>
          <a:prstGeom prst="roundRect">
            <a:avLst>
              <a:gd name="adj" fmla="val 6977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28216"/>
            <a:ext cx="292608" cy="29260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 11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9019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plataforma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481328"/>
            <a:ext cx="3840480" cy="786384"/>
          </a:xfrm>
          <a:prstGeom prst="roundRect">
            <a:avLst>
              <a:gd name="adj" fmla="val 6977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56048" y="1728216"/>
            <a:ext cx="292608" cy="29260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3248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2.4.5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13248" y="19019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del backend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3840480" cy="786384"/>
          </a:xfrm>
          <a:prstGeom prst="roundRect">
            <a:avLst>
              <a:gd name="adj" fmla="val 6977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697480"/>
            <a:ext cx="292608" cy="29260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2596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2871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aplicaciones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450592"/>
            <a:ext cx="3840480" cy="786384"/>
          </a:xfrm>
          <a:prstGeom prst="roundRect">
            <a:avLst>
              <a:gd name="adj" fmla="val 6977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56048" y="2697480"/>
            <a:ext cx="292608" cy="29260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596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8.0.24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13248" y="2871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base de datos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19856"/>
            <a:ext cx="3840480" cy="786384"/>
          </a:xfrm>
          <a:prstGeom prst="roundRect">
            <a:avLst>
              <a:gd name="adj" fmla="val 6977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3666744"/>
            <a:ext cx="292608" cy="29260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38404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dependencias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419856"/>
            <a:ext cx="3840480" cy="786384"/>
          </a:xfrm>
          <a:prstGeom prst="roundRect">
            <a:avLst>
              <a:gd name="adj" fmla="val 6977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3666744"/>
            <a:ext cx="292608" cy="29260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3248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y MockMvc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13248" y="38404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incluye el envoltorio de Maven, de modo que se compila sin instalar herramientas adicionales.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tablas verificadas contra el modelo entidad-relación</a:t>
            </a:r>
            <a:endParaRPr lang="en-US" sz="1300" dirty="0"/>
          </a:p>
        </p:txBody>
      </p:sp>
      <p:pic>
        <p:nvPicPr>
          <p:cNvPr id="4" name="Image 0" descr="C:\Users\user\OneDrive\Documentos\Universidad\Nueva carpeta\docs\diagramas\02-modelo-entidad-rel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280160"/>
            <a:ext cx="6181344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 1 y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usuarios, clientes y proveedores</a:t>
            </a:r>
            <a:endParaRPr lang="en-US" sz="1300" dirty="0"/>
          </a:p>
        </p:txBody>
      </p:sp>
      <p:pic>
        <p:nvPicPr>
          <p:cNvPr id="4" name="Image 0" descr="C:\Users\user\OneDrive\Documentos\Universidad\Nueva carpeta\docs\evidencia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371600"/>
            <a:ext cx="2432304" cy="1161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615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al sistema</a:t>
            </a:r>
            <a:endParaRPr lang="en-US" sz="1050" dirty="0"/>
          </a:p>
        </p:txBody>
      </p:sp>
      <p:pic>
        <p:nvPicPr>
          <p:cNvPr id="6" name="Image 1" descr="C:\Users\user\OneDrive\Documentos\Universidad\Nueva carpeta\docs\evidencias\03-usuari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3931920" cy="1280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2734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con consulta por cédula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48640" y="3182112"/>
            <a:ext cx="256032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31520" y="33467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inicial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1520" y="362102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admininicial se desactiva al crear el primer usuario real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3182112"/>
            <a:ext cx="256032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474720" y="33467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74720" y="362102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Almacenadas cifradas con BCrypt, nunca en texto plano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3182112"/>
            <a:ext cx="256032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17920" y="33467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217920" y="362102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específicos por cada campo obligatorio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· Carga de productos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un archivo separado por comas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debe tener formato CSV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columnas exactas por registro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432304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459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 correctos en cada columna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907792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935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NIT del proveedor debe existir en la base de datos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códigos de producto repetidos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50208"/>
            <a:ext cx="42062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es todo o nada: la tabla solo se reemplaza si el archivo completo es válido.</a:t>
            </a:r>
            <a:endParaRPr lang="en-US" sz="1150" dirty="0"/>
          </a:p>
        </p:txBody>
      </p:sp>
      <p:pic>
        <p:nvPicPr>
          <p:cNvPr id="21" name="Image 0" descr="C:\Users\user\OneDrive\Documentos\Universidad\Nueva carpeta\docs\evidencias\06-productos-car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481328"/>
            <a:ext cx="3566160" cy="7772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0" y="23042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carga</a:t>
            </a:r>
            <a:endParaRPr lang="en-US" sz="1000" dirty="0"/>
          </a:p>
        </p:txBody>
      </p:sp>
      <p:pic>
        <p:nvPicPr>
          <p:cNvPr id="23" name="Image 1" descr="C:\Users\user\OneDrive\Documentos\Universidad\Nueva carpeta\docs\evidencias\12-validacion-carga-sin-archiv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97480"/>
            <a:ext cx="3566160" cy="9326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029200" y="36758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cuando no se selecciona archivo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 · Registro de ventas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con mayor lógica de negocio</a:t>
            </a:r>
            <a:endParaRPr lang="en-US" sz="1300" dirty="0"/>
          </a:p>
        </p:txBody>
      </p:sp>
      <p:pic>
        <p:nvPicPr>
          <p:cNvPr id="4" name="Image 0" descr="C:\Users\user\OneDrive\Documentos\Universidad\Nueva carpeta\docs\evidencias\07-ven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029200" cy="2459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9319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de tres productos con sus totales calculados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852160" y="1463040"/>
            <a:ext cx="2743200" cy="694944"/>
          </a:xfrm>
          <a:prstGeom prst="roundRect">
            <a:avLst>
              <a:gd name="adj" fmla="val 789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15544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producto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0" y="1801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× precio de venta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52160" y="2286000"/>
            <a:ext cx="2743200" cy="694944"/>
          </a:xfrm>
          <a:prstGeom prst="roundRect">
            <a:avLst>
              <a:gd name="adj" fmla="val 789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3774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IVA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0" y="2624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porcentaje de cada producto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3108960"/>
            <a:ext cx="2743200" cy="694944"/>
          </a:xfrm>
          <a:prstGeom prst="roundRect">
            <a:avLst>
              <a:gd name="adj" fmla="val 7895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3200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 IVA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3447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venta más el IVA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393192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405993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3 productos. La venta y su detalle se guardan en una sola transacción.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 · Consultas y reportes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consultas por pantalla</a:t>
            </a:r>
            <a:endParaRPr lang="en-US" sz="1300" dirty="0"/>
          </a:p>
        </p:txBody>
      </p:sp>
      <p:pic>
        <p:nvPicPr>
          <p:cNvPr id="4" name="Image 0" descr="C:\Users\user\OneDrive\Documentos\Universidad\Nueva carpeta\docs\evidencias\11-reporte-ventas-por-cli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371600"/>
            <a:ext cx="4846320" cy="1490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92608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ventas por cliente, con el valor consolidado al final del listado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3364992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5112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usuarios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78561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contraseña enmascarada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3364992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74720" y="35112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clientes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0" y="378561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contacto completos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3364992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35112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cliente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17920" y="378561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total consolidado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verificada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del conjunto de pruebas está automatizado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874520" cy="1463040"/>
          </a:xfrm>
          <a:prstGeom prst="roundRect">
            <a:avLst>
              <a:gd name="adj" fmla="val 3750"/>
            </a:avLst>
          </a:prstGeom>
          <a:solidFill>
            <a:srgbClr val="162050"/>
          </a:solidFill>
          <a:ln w="12700">
            <a:solidFill>
              <a:srgbClr val="2E3B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0078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la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1536192"/>
            <a:ext cx="1874520" cy="1463040"/>
          </a:xfrm>
          <a:prstGeom prst="roundRect">
            <a:avLst>
              <a:gd name="adj" fmla="val 3750"/>
            </a:avLst>
          </a:prstGeom>
          <a:solidFill>
            <a:srgbClr val="162050"/>
          </a:solidFill>
          <a:ln w="12700">
            <a:solidFill>
              <a:srgbClr val="2E3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70078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651760" y="2377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536192"/>
            <a:ext cx="1874520" cy="1463040"/>
          </a:xfrm>
          <a:prstGeom prst="roundRect">
            <a:avLst>
              <a:gd name="adj" fmla="val 3750"/>
            </a:avLst>
          </a:prstGeom>
          <a:solidFill>
            <a:srgbClr val="162050"/>
          </a:solidFill>
          <a:ln w="12700">
            <a:solidFill>
              <a:srgbClr val="2E3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0078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en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ejecución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1536192"/>
            <a:ext cx="1874520" cy="1463040"/>
          </a:xfrm>
          <a:prstGeom prst="roundRect">
            <a:avLst>
              <a:gd name="adj" fmla="val 3750"/>
            </a:avLst>
          </a:prstGeom>
          <a:solidFill>
            <a:srgbClr val="162050"/>
          </a:solidFill>
          <a:ln w="12700">
            <a:solidFill>
              <a:srgbClr val="2E3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70078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858000" y="2377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nombres de las pruebas llevan el identificador de su caso, de modo que la trazabilidad entre la especificación y el código es directa.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22192"/>
            <a:ext cx="8412480" cy="841248"/>
          </a:xfrm>
          <a:prstGeom prst="roundRect">
            <a:avLst>
              <a:gd name="adj" fmla="val 6522"/>
            </a:avLst>
          </a:prstGeom>
          <a:solidFill>
            <a:srgbClr val="162050"/>
          </a:solidFill>
          <a:ln w="12700">
            <a:solidFill>
              <a:srgbClr val="2E3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684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se ejecutó contra H2 y contra MySQL 8.0.24, con idéntico resultado. Una ejecución de control con credenciales incorrectas confirmó que las pruebas alcanzan el motor real.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del proyecto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aplicadas más allá del código funcional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691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continua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06654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compila el proyecto y ejecuta las 51 pruebas, incluidas las que corren contra un contenedor de MySQL 8.0.24.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56048" y="166420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76672" y="1691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separados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56048" y="206654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de desarrollo y rama de producción, con una etiqueta por cada sprint cerrado.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3697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3264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363931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 con BCrypt y credenciales resueltas por variables de entorno, nunca dentro del código.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35808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56048" y="323697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6672" y="3264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56048" y="363931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entrega, guías de despliegue, colección de la API y evidencias de ejecución.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máquina local a la nube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local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4672" y="2084832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0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MySQL 8.0.24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2542032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78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el puerto 5000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" y="2999232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935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 Tomcat 9, puerto 8080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6C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en AWS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10912" y="2084832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020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con MySQL 8.0.24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10912" y="2542032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478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Beanstalk, plataforma Java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10912" y="2999232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935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Beanstalk, plataforma Tomcat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de frontend resuelve la dirección del backend por variable de entorno, de modo que pasar de local a la nube no exige recompilar.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02536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7008" y="19659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siete módulos implementados, probados y documentados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569464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25328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23 historias de usuario completas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3136392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309981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pruebas automatizadas sin fallos, sobre MySQL 8.0.24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3703320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366674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verificado de extremo a extremo en ejecución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44074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Jaramillo Malavera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Tienda Genérica Virtual — Sustentación del proyecto</dc:title>
  <dc:subject>Proyecto de software para gestionar las transacciones comerciales de una tienda genérica</dc:subject>
  <dc:creator>Maximiliano Jaramillo Malavera</dc:creator>
  <cp:lastModifiedBy>Maximiliano Jaramillo Malavera</cp:lastModifiedBy>
  <cp:revision>1</cp:revision>
  <dcterms:created xsi:type="dcterms:W3CDTF">2026-08-21T11:13:07Z</dcterms:created>
  <dcterms:modified xsi:type="dcterms:W3CDTF">2026-08-21T11:13:07Z</dcterms:modified>
</cp:coreProperties>
</file>